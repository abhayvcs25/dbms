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7" r:id="rId3"/>
    <p:sldId id="257" r:id="rId4"/>
    <p:sldId id="258" r:id="rId5"/>
    <p:sldId id="259" r:id="rId6"/>
    <p:sldId id="266" r:id="rId7"/>
    <p:sldId id="271" r:id="rId8"/>
    <p:sldId id="272" r:id="rId9"/>
    <p:sldId id="273" r:id="rId10"/>
    <p:sldId id="274" r:id="rId11"/>
    <p:sldId id="275" r:id="rId12"/>
    <p:sldId id="260" r:id="rId13"/>
    <p:sldId id="263" r:id="rId14"/>
    <p:sldId id="261" r:id="rId15"/>
    <p:sldId id="264" r:id="rId16"/>
    <p:sldId id="276" r:id="rId17"/>
    <p:sldId id="277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4" autoAdjust="0"/>
    <p:restoredTop sz="80492" autoAdjust="0"/>
  </p:normalViewPr>
  <p:slideViewPr>
    <p:cSldViewPr>
      <p:cViewPr varScale="1">
        <p:scale>
          <a:sx n="69" d="100"/>
          <a:sy n="69" d="100"/>
        </p:scale>
        <p:origin x="204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FF62D-AABA-4401-A0FE-A33BB785BED3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AD9DC-52FE-40E6-A0F7-57C98CCF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45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 (driver_ id: String, name: String, address: String)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 (reg_num: String, model: String, year: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ACCIDENT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report_num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date: date, location: String)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OWNS (driver_id: String, reg_num: String)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PARTICIPATED (driver_id: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String,reg_num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String,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report_num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damage-amount: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EAD9DC-52FE-40E6-A0F7-57C98CCF21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31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 (driver_ id: String, name: String, address: String)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 (reg_num: String, model: String, year: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ACCIDENT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report_num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date: date, location: String)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OWNS (driver_id: String, reg_num: String)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PARTICIPATED (driver_id: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String,reg_num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String,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report_num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damage-amount: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EAD9DC-52FE-40E6-A0F7-57C98CCF21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31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count(distinct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driver_id) CNT from participated a, accident b where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a.report_num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b.report_num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b.accident_date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'%08';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EAD9DC-52FE-40E6-A0F7-57C98CCF21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6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count(distinct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driver_id) CNT from participated a, accident b where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a.report_num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b.report_num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b.accident_date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'%08';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EAD9DC-52FE-40E6-A0F7-57C98CCF21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6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36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7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7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2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48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0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5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9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3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2DBC9-2A5A-4FEC-A4B6-FBBC2434B315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F5E36-DB81-4BD5-BEE1-9377BC1EE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12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Insurance Database</a:t>
            </a:r>
          </a:p>
        </p:txBody>
      </p:sp>
    </p:spTree>
    <p:extLst>
      <p:ext uri="{BB962C8B-B14F-4D97-AF65-F5344CB8AC3E}">
        <p14:creationId xmlns:p14="http://schemas.microsoft.com/office/powerpoint/2010/main" val="3432064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559530"/>
              </p:ext>
            </p:extLst>
          </p:nvPr>
        </p:nvGraphicFramePr>
        <p:xfrm>
          <a:off x="152400" y="1371600"/>
          <a:ext cx="32004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422536"/>
              </p:ext>
            </p:extLst>
          </p:nvPr>
        </p:nvGraphicFramePr>
        <p:xfrm>
          <a:off x="3733800" y="1371600"/>
          <a:ext cx="28193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204209"/>
              </p:ext>
            </p:extLst>
          </p:nvPr>
        </p:nvGraphicFramePr>
        <p:xfrm>
          <a:off x="4914900" y="2360692"/>
          <a:ext cx="40767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report_num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accident_date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273050"/>
              </p:ext>
            </p:extLst>
          </p:nvPr>
        </p:nvGraphicFramePr>
        <p:xfrm>
          <a:off x="1211505" y="2991853"/>
          <a:ext cx="2362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095207"/>
              </p:ext>
            </p:extLst>
          </p:nvPr>
        </p:nvGraphicFramePr>
        <p:xfrm>
          <a:off x="685800" y="5486400"/>
          <a:ext cx="6172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9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report_num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damage_amount</a:t>
                      </a:r>
                      <a:endParaRPr lang="en-US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00789" y="1002268"/>
            <a:ext cx="96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970002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1991360"/>
            <a:ext cx="1150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ACCIDENT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7438" y="3364469"/>
            <a:ext cx="80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OWNS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133" y="5943600"/>
            <a:ext cx="1518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PARTICIPATED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 flipV="1">
            <a:off x="1066800" y="1752600"/>
            <a:ext cx="470741" cy="1295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00400" y="1752600"/>
            <a:ext cx="685800" cy="1295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607595" y="1752600"/>
            <a:ext cx="459205" cy="3810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667000" y="4572000"/>
            <a:ext cx="0" cy="990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667000" y="4572000"/>
            <a:ext cx="15070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174099" y="1752600"/>
            <a:ext cx="0" cy="2819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4038600" y="2667000"/>
            <a:ext cx="1752600" cy="2895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90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137534"/>
              </p:ext>
            </p:extLst>
          </p:nvPr>
        </p:nvGraphicFramePr>
        <p:xfrm>
          <a:off x="152400" y="1371600"/>
          <a:ext cx="32004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354485"/>
              </p:ext>
            </p:extLst>
          </p:nvPr>
        </p:nvGraphicFramePr>
        <p:xfrm>
          <a:off x="3733800" y="1371600"/>
          <a:ext cx="28193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235210"/>
              </p:ext>
            </p:extLst>
          </p:nvPr>
        </p:nvGraphicFramePr>
        <p:xfrm>
          <a:off x="4914900" y="2360692"/>
          <a:ext cx="40767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report_num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accident_date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483583"/>
              </p:ext>
            </p:extLst>
          </p:nvPr>
        </p:nvGraphicFramePr>
        <p:xfrm>
          <a:off x="1211505" y="2991853"/>
          <a:ext cx="2362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029390"/>
              </p:ext>
            </p:extLst>
          </p:nvPr>
        </p:nvGraphicFramePr>
        <p:xfrm>
          <a:off x="685800" y="5486400"/>
          <a:ext cx="6172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9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report_num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damage_amount</a:t>
                      </a:r>
                      <a:endParaRPr lang="en-US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00789" y="1002268"/>
            <a:ext cx="96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970002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1991360"/>
            <a:ext cx="1150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ACCIDENT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7438" y="3364469"/>
            <a:ext cx="80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OWNS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133" y="5943600"/>
            <a:ext cx="1518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PARTICIPATED</a:t>
            </a:r>
          </a:p>
        </p:txBody>
      </p:sp>
    </p:spTree>
    <p:extLst>
      <p:ext uri="{BB962C8B-B14F-4D97-AF65-F5344CB8AC3E}">
        <p14:creationId xmlns:p14="http://schemas.microsoft.com/office/powerpoint/2010/main" val="35646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629593"/>
              </p:ext>
            </p:extLst>
          </p:nvPr>
        </p:nvGraphicFramePr>
        <p:xfrm>
          <a:off x="152400" y="777240"/>
          <a:ext cx="4572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Richard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nagar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Pradeep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Rajaji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nagar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Ashok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nagar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R Colony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Jhon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Hanumanth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nagar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789" y="407908"/>
            <a:ext cx="96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PERSON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367651"/>
              </p:ext>
            </p:extLst>
          </p:nvPr>
        </p:nvGraphicFramePr>
        <p:xfrm>
          <a:off x="5029200" y="777240"/>
          <a:ext cx="34139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KA052250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KA031181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Lancer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KA095477 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Toyota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KA053408 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KA041702 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81600" y="375642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95773"/>
              </p:ext>
            </p:extLst>
          </p:nvPr>
        </p:nvGraphicFramePr>
        <p:xfrm>
          <a:off x="304800" y="3749040"/>
          <a:ext cx="24233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KA052250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KA053408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KA031181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KA095477 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KA041702 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347442"/>
            <a:ext cx="80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OWNS</a:t>
            </a:r>
          </a:p>
        </p:txBody>
      </p:sp>
    </p:spTree>
    <p:extLst>
      <p:ext uri="{BB962C8B-B14F-4D97-AF65-F5344CB8AC3E}">
        <p14:creationId xmlns:p14="http://schemas.microsoft.com/office/powerpoint/2010/main" val="19958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448245"/>
              </p:ext>
            </p:extLst>
          </p:nvPr>
        </p:nvGraphicFramePr>
        <p:xfrm>
          <a:off x="1878022" y="3922038"/>
          <a:ext cx="558957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report_num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accident_date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01-JAN-03 </a:t>
                      </a:r>
                      <a:endParaRPr lang="en-US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Mysore Road</a:t>
                      </a:r>
                      <a:endParaRPr lang="en-US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02-FEB-04 </a:t>
                      </a:r>
                      <a:endParaRPr lang="en-US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South end Circle</a:t>
                      </a:r>
                      <a:endParaRPr lang="en-US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21-JAN-03 </a:t>
                      </a:r>
                      <a:endParaRPr lang="en-US" sz="180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Bull temple Road</a:t>
                      </a:r>
                      <a:endParaRPr lang="en-US" sz="180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17-FEB-08 </a:t>
                      </a:r>
                      <a:endParaRPr lang="en-US" sz="180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Mysore Road</a:t>
                      </a:r>
                      <a:endParaRPr lang="en-US" sz="180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04-MAR-05 </a:t>
                      </a:r>
                      <a:endParaRPr lang="en-US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Kanakpura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Road</a:t>
                      </a:r>
                      <a:endParaRPr lang="en-US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30423" y="3520440"/>
            <a:ext cx="1150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ACCIDENT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409459"/>
              </p:ext>
            </p:extLst>
          </p:nvPr>
        </p:nvGraphicFramePr>
        <p:xfrm>
          <a:off x="506423" y="706398"/>
          <a:ext cx="566577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report_num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damage_amount</a:t>
                      </a:r>
                      <a:endParaRPr lang="en-US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KA052250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KA053408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KA095477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KA031181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KA041702 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824" y="304800"/>
            <a:ext cx="1518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PARTICIPATED</a:t>
            </a:r>
          </a:p>
        </p:txBody>
      </p:sp>
    </p:spTree>
    <p:extLst>
      <p:ext uri="{BB962C8B-B14F-4D97-AF65-F5344CB8AC3E}">
        <p14:creationId xmlns:p14="http://schemas.microsoft.com/office/powerpoint/2010/main" val="749085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Insurance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(driver_id: String, name: String, address: String)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(reg_num: String, model: String, year: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ACCIDENT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report_num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accident_date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date, location: String)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(driver_id: String, reg_num: String)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PARTICIPATED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(driver_id: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String,reg_num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String,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report_num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damage_amount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Noto Sans Symbols"/>
              </a:rPr>
              <a:t>Create the above tables by properly specifying the primary keys and the foreign keys.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Noto Sans Symbols"/>
              </a:rPr>
              <a:t>Enter at least five tuples for each relation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Noto Sans Symbols"/>
              </a:rPr>
              <a:t>Display Accident date and location 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Symbols"/>
                <a:ea typeface="Noto Sans Symbols"/>
                <a:cs typeface="Noto Sans Symbols"/>
              </a:rPr>
              <a:t>Update the damage amount to 25000 for the car with a specific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Symbols"/>
                <a:ea typeface="Noto Sans Symbols"/>
                <a:cs typeface="Noto Sans Symbols"/>
              </a:rPr>
              <a:t>reg_num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Symbols"/>
                <a:ea typeface="Noto Sans Symbols"/>
                <a:cs typeface="Noto Sans Symbols"/>
              </a:rPr>
              <a:t> (example  'K A053408'  ) for which the accident report number was 12.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Symbols"/>
                <a:ea typeface="Noto Sans Symbols"/>
                <a:cs typeface="Noto Sans Symbols"/>
              </a:rPr>
              <a:t>Add a new accident to the database.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Noto Sans Symbols"/>
              <a:ea typeface="Noto Sans Symbols"/>
              <a:cs typeface="Noto Sans Symbols"/>
            </a:endParaRPr>
          </a:p>
          <a:p>
            <a:pPr marL="0" lv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98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Noto Sans Symbols"/>
              </a:rPr>
              <a:t>To Do</a:t>
            </a: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US" sz="1400" b="1" dirty="0">
                <a:solidFill>
                  <a:srgbClr val="98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Noto Sans Symbols"/>
              </a:rPr>
              <a:t>Display Accident date and location 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400" b="1" dirty="0">
                <a:solidFill>
                  <a:srgbClr val="98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Noto Sans Symbols"/>
              </a:rPr>
              <a:t>Display driver id who did accident with damage amount greater than or equal to Rs.25000</a:t>
            </a:r>
            <a:endParaRPr lang="en-IN" sz="1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4015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BBAB-0032-CD19-FEC8-ACF412EF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713DD-CA0F-B613-E17C-8F8166AD7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SQL&gt;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table person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varchar(10),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 varchar(20),  address varchar(30), primary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created.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SQL&gt;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 person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Name                         Null?          Type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------------------------ -------- ------------------------------		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DRIVER_ID         NOT NULL   VARCHAR2(10)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NAME                                       VARCHAR2(20)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ADDRESS                                VARCHAR2(30)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45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3DDC-923E-FDFD-720F-98BD67902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B534C-ECDD-7561-8989-936D1C297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table car(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varchar(10),model varchar(10),year int, primary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table accident(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report_num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accident_date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date, location varchar(20),primary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report_num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table owns(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varchar(10),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varchar(10),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primary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foreign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references person(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foreign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references car(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639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3906-3F35-FBBD-B478-F40B83F3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D04D1-CBB5-6A62-656B-E57D77637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table participated(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varchar(10),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varchar(10),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report_num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damage_amount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int,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primary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report_num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foreign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references person(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driver_id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foreign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references car(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foreign key(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report_num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references accident(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report_num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060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2140-3392-DA96-4BCD-B007EE3F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QUERY 2: Enter at least five tuples for each relation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559D-EE7F-50FB-30C5-0DFF1D0EA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800" dirty="0"/>
              <a:t>Example of inserting into accident table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insert into </a:t>
            </a:r>
            <a:r>
              <a:rPr lang="en-IN" sz="1800" dirty="0"/>
              <a:t>accident </a:t>
            </a:r>
            <a:r>
              <a:rPr lang="en-IN" sz="1800" b="1" dirty="0"/>
              <a:t>values (</a:t>
            </a:r>
            <a:r>
              <a:rPr lang="en-IN" sz="1800" dirty="0"/>
              <a:t>11, '2003-01-01','Mysore Road’</a:t>
            </a:r>
            <a:r>
              <a:rPr lang="en-IN" sz="1800" b="1" dirty="0"/>
              <a:t>)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insert into accident values (12,'2004-02-02','South end Circle’);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insert into accident values (13,'2003-01-21','Bull temple Road’);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insert into accident values (14,'2008-02-17','Mysore Road’);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insert into accident values (15,'2004-03-05','Kanakpura Road’);</a:t>
            </a:r>
          </a:p>
          <a:p>
            <a:pPr marL="0" indent="0">
              <a:buNone/>
            </a:pPr>
            <a:endParaRPr lang="en-IN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711523-032A-FCF4-B65F-358913066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713941"/>
              </p:ext>
            </p:extLst>
          </p:nvPr>
        </p:nvGraphicFramePr>
        <p:xfrm>
          <a:off x="5072876" y="1517458"/>
          <a:ext cx="40767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report_num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accident_date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FCB2C5-09EF-17F9-A1BA-2C7A960C046F}"/>
              </a:ext>
            </a:extLst>
          </p:cNvPr>
          <p:cNvSpPr txBox="1"/>
          <p:nvPr/>
        </p:nvSpPr>
        <p:spPr>
          <a:xfrm>
            <a:off x="6939776" y="1148126"/>
            <a:ext cx="1150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ACCIDENT</a:t>
            </a:r>
          </a:p>
        </p:txBody>
      </p:sp>
    </p:spTree>
    <p:extLst>
      <p:ext uri="{BB962C8B-B14F-4D97-AF65-F5344CB8AC3E}">
        <p14:creationId xmlns:p14="http://schemas.microsoft.com/office/powerpoint/2010/main" val="2679499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2140-3392-DA96-4BCD-B007EE3F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QUERY 2: Enter at least five tuples for each relation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559D-EE7F-50FB-30C5-0DFF1D0EA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Similarly insert values for other remaining tables</a:t>
            </a:r>
          </a:p>
        </p:txBody>
      </p:sp>
    </p:spTree>
    <p:extLst>
      <p:ext uri="{BB962C8B-B14F-4D97-AF65-F5344CB8AC3E}">
        <p14:creationId xmlns:p14="http://schemas.microsoft.com/office/powerpoint/2010/main" val="408657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rgbClr val="C00000"/>
                </a:solidFill>
              </a:rPr>
              <a:t>Update the damage amount to </a:t>
            </a:r>
            <a:r>
              <a:rPr lang="en-US" sz="2000" dirty="0"/>
              <a:t>25000</a:t>
            </a:r>
            <a:r>
              <a:rPr lang="en-US" sz="2000" dirty="0">
                <a:solidFill>
                  <a:srgbClr val="C00000"/>
                </a:solidFill>
              </a:rPr>
              <a:t> for the car with a specific </a:t>
            </a:r>
            <a:r>
              <a:rPr lang="en-US" sz="2000" dirty="0" err="1">
                <a:solidFill>
                  <a:srgbClr val="C00000"/>
                </a:solidFill>
              </a:rPr>
              <a:t>reg-num</a:t>
            </a:r>
            <a:r>
              <a:rPr lang="en-US" sz="2000" dirty="0">
                <a:solidFill>
                  <a:srgbClr val="C00000"/>
                </a:solidFill>
              </a:rPr>
              <a:t> (example </a:t>
            </a:r>
            <a:r>
              <a:rPr lang="en-US" sz="2000" dirty="0"/>
              <a:t>'KA053408' </a:t>
            </a:r>
            <a:r>
              <a:rPr lang="en-US" sz="2000" dirty="0">
                <a:solidFill>
                  <a:srgbClr val="C00000"/>
                </a:solidFill>
              </a:rPr>
              <a:t>) for which the accident report number was </a:t>
            </a:r>
            <a:r>
              <a:rPr lang="en-US" sz="2000" dirty="0"/>
              <a:t>12</a:t>
            </a:r>
            <a:r>
              <a:rPr lang="en-US" sz="2000" dirty="0">
                <a:solidFill>
                  <a:srgbClr val="C00000"/>
                </a:solidFill>
              </a:rPr>
              <a:t>.</a:t>
            </a:r>
            <a:br>
              <a:rPr lang="en-US" sz="2000" dirty="0">
                <a:solidFill>
                  <a:srgbClr val="C00000"/>
                </a:solidFill>
              </a:rPr>
            </a:br>
            <a:endParaRPr lang="en-US" sz="2000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186071"/>
              </p:ext>
            </p:extLst>
          </p:nvPr>
        </p:nvGraphicFramePr>
        <p:xfrm>
          <a:off x="506423" y="2072640"/>
          <a:ext cx="566577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report_num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damage_amount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KA052250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KA053408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KA095477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KA031181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KA041702 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824" y="1671042"/>
            <a:ext cx="1518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PARTICIPATED</a:t>
            </a:r>
          </a:p>
        </p:txBody>
      </p:sp>
    </p:spTree>
    <p:extLst>
      <p:ext uri="{BB962C8B-B14F-4D97-AF65-F5344CB8AC3E}">
        <p14:creationId xmlns:p14="http://schemas.microsoft.com/office/powerpoint/2010/main" val="1257181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rgbClr val="C00000"/>
                </a:solidFill>
              </a:rPr>
              <a:t>Update the damage amount to </a:t>
            </a:r>
            <a:r>
              <a:rPr lang="en-US" sz="2000" dirty="0"/>
              <a:t>25000</a:t>
            </a:r>
            <a:r>
              <a:rPr lang="en-US" sz="2000" dirty="0">
                <a:solidFill>
                  <a:srgbClr val="C00000"/>
                </a:solidFill>
              </a:rPr>
              <a:t> for the car with a specific </a:t>
            </a:r>
            <a:r>
              <a:rPr lang="en-US" sz="2000" dirty="0" err="1">
                <a:solidFill>
                  <a:srgbClr val="C00000"/>
                </a:solidFill>
              </a:rPr>
              <a:t>reg-num</a:t>
            </a:r>
            <a:r>
              <a:rPr lang="en-US" sz="2000" dirty="0">
                <a:solidFill>
                  <a:srgbClr val="C00000"/>
                </a:solidFill>
              </a:rPr>
              <a:t> (example </a:t>
            </a:r>
            <a:r>
              <a:rPr lang="en-US" sz="2000" dirty="0"/>
              <a:t>'KA053408' </a:t>
            </a:r>
            <a:r>
              <a:rPr lang="en-US" sz="2000" dirty="0">
                <a:solidFill>
                  <a:srgbClr val="C00000"/>
                </a:solidFill>
              </a:rPr>
              <a:t>) for which the accident report number was </a:t>
            </a:r>
            <a:r>
              <a:rPr lang="en-US" sz="2000" dirty="0"/>
              <a:t>12</a:t>
            </a:r>
            <a:r>
              <a:rPr lang="en-US" sz="2000" dirty="0">
                <a:solidFill>
                  <a:srgbClr val="C00000"/>
                </a:solidFill>
              </a:rPr>
              <a:t>.</a:t>
            </a:r>
            <a:br>
              <a:rPr lang="en-US" sz="2000" dirty="0">
                <a:solidFill>
                  <a:srgbClr val="C00000"/>
                </a:solidFill>
              </a:rPr>
            </a:br>
            <a:endParaRPr lang="en-US" sz="2000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884919"/>
              </p:ext>
            </p:extLst>
          </p:nvPr>
        </p:nvGraphicFramePr>
        <p:xfrm>
          <a:off x="506423" y="2072640"/>
          <a:ext cx="566577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report_num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damage_amount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KA052250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KA053408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KA095477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KA031181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KA041702 </a:t>
                      </a:r>
                      <a:endParaRPr lang="en-US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824" y="1671042"/>
            <a:ext cx="1518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PARTICIPATED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992469"/>
            <a:ext cx="74480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update </a:t>
            </a:r>
            <a:r>
              <a:rPr lang="en-US" sz="2800" dirty="0">
                <a:solidFill>
                  <a:srgbClr val="0000FF"/>
                </a:solidFill>
              </a:rPr>
              <a:t>participated</a:t>
            </a:r>
            <a:r>
              <a:rPr lang="en-US" sz="2800" dirty="0">
                <a:solidFill>
                  <a:srgbClr val="00B050"/>
                </a:solidFill>
              </a:rPr>
              <a:t> set </a:t>
            </a:r>
            <a:r>
              <a:rPr lang="en-US" sz="2800" dirty="0" err="1">
                <a:solidFill>
                  <a:srgbClr val="00B050"/>
                </a:solidFill>
              </a:rPr>
              <a:t>damage_amount</a:t>
            </a:r>
            <a:r>
              <a:rPr lang="en-US" sz="2800" dirty="0">
                <a:solidFill>
                  <a:srgbClr val="00B050"/>
                </a:solidFill>
              </a:rPr>
              <a:t>=</a:t>
            </a:r>
            <a:r>
              <a:rPr lang="en-US" sz="2800" dirty="0"/>
              <a:t>25000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</a:p>
          <a:p>
            <a:r>
              <a:rPr lang="en-US" sz="2800" dirty="0">
                <a:solidFill>
                  <a:srgbClr val="00B050"/>
                </a:solidFill>
              </a:rPr>
              <a:t>where reg_num='</a:t>
            </a:r>
            <a:r>
              <a:rPr lang="en-US" sz="2800" dirty="0"/>
              <a:t>KA053408</a:t>
            </a:r>
            <a:r>
              <a:rPr lang="en-US" sz="2800" dirty="0">
                <a:solidFill>
                  <a:srgbClr val="00B050"/>
                </a:solidFill>
              </a:rPr>
              <a:t>' and </a:t>
            </a:r>
            <a:r>
              <a:rPr lang="en-US" sz="2800" dirty="0" err="1">
                <a:solidFill>
                  <a:srgbClr val="00B050"/>
                </a:solidFill>
              </a:rPr>
              <a:t>report_num</a:t>
            </a:r>
            <a:r>
              <a:rPr lang="en-US" sz="2800" dirty="0">
                <a:solidFill>
                  <a:srgbClr val="00B050"/>
                </a:solidFill>
              </a:rPr>
              <a:t>=</a:t>
            </a:r>
            <a:r>
              <a:rPr lang="en-US" sz="2800" dirty="0"/>
              <a:t>12</a:t>
            </a:r>
            <a:r>
              <a:rPr lang="en-US" sz="2800" dirty="0">
                <a:solidFill>
                  <a:srgbClr val="00B050"/>
                </a:solidFill>
              </a:rPr>
              <a:t>;</a:t>
            </a:r>
          </a:p>
          <a:p>
            <a:endParaRPr 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659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>
                <a:solidFill>
                  <a:srgbClr val="C00000"/>
                </a:solidFill>
              </a:rPr>
              <a:t>Find the total number of people who owned cars that were involved in accidents in </a:t>
            </a:r>
            <a:r>
              <a:rPr lang="en-US" sz="2800" dirty="0"/>
              <a:t>2008</a:t>
            </a:r>
            <a:r>
              <a:rPr lang="en-US" sz="2800" dirty="0">
                <a:solidFill>
                  <a:srgbClr val="C00000"/>
                </a:solidFill>
              </a:rPr>
              <a:t>.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034087" cy="3739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0756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>
                <a:solidFill>
                  <a:srgbClr val="C00000"/>
                </a:solidFill>
              </a:rPr>
              <a:t>Find the total number of people who owned cars that were involved in accidents in 2008.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034087" cy="3739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042" y="5247180"/>
            <a:ext cx="86173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select count(</a:t>
            </a:r>
            <a:r>
              <a:rPr lang="en-US" sz="2400" dirty="0">
                <a:solidFill>
                  <a:srgbClr val="FF0000"/>
                </a:solidFill>
              </a:rPr>
              <a:t>distinct</a:t>
            </a:r>
            <a:r>
              <a:rPr lang="en-US" sz="2400" dirty="0">
                <a:solidFill>
                  <a:srgbClr val="00B050"/>
                </a:solidFill>
              </a:rPr>
              <a:t> driver_id) CNT </a:t>
            </a:r>
          </a:p>
          <a:p>
            <a:r>
              <a:rPr lang="en-US" sz="2400" dirty="0">
                <a:solidFill>
                  <a:srgbClr val="00B050"/>
                </a:solidFill>
              </a:rPr>
              <a:t>from </a:t>
            </a:r>
            <a:r>
              <a:rPr lang="en-US" sz="2400" dirty="0">
                <a:solidFill>
                  <a:srgbClr val="0000FF"/>
                </a:solidFill>
              </a:rPr>
              <a:t>participated</a:t>
            </a:r>
            <a:r>
              <a:rPr lang="en-US" sz="2400" dirty="0">
                <a:solidFill>
                  <a:srgbClr val="00B050"/>
                </a:solidFill>
              </a:rPr>
              <a:t> a, </a:t>
            </a:r>
            <a:r>
              <a:rPr lang="en-US" sz="2400" dirty="0">
                <a:solidFill>
                  <a:srgbClr val="0000FF"/>
                </a:solidFill>
              </a:rPr>
              <a:t>accident</a:t>
            </a:r>
            <a:r>
              <a:rPr lang="en-US" sz="2400" dirty="0">
                <a:solidFill>
                  <a:srgbClr val="00B050"/>
                </a:solidFill>
              </a:rPr>
              <a:t> b </a:t>
            </a:r>
          </a:p>
          <a:p>
            <a:r>
              <a:rPr lang="en-US" sz="2400" dirty="0">
                <a:solidFill>
                  <a:srgbClr val="00B050"/>
                </a:solidFill>
              </a:rPr>
              <a:t>where </a:t>
            </a:r>
            <a:r>
              <a:rPr lang="en-US" sz="2400" dirty="0" err="1">
                <a:solidFill>
                  <a:srgbClr val="00B050"/>
                </a:solidFill>
              </a:rPr>
              <a:t>a.report_num</a:t>
            </a:r>
            <a:r>
              <a:rPr lang="en-US" sz="2400" dirty="0">
                <a:solidFill>
                  <a:srgbClr val="00B050"/>
                </a:solidFill>
              </a:rPr>
              <a:t>=</a:t>
            </a:r>
            <a:r>
              <a:rPr lang="en-US" sz="2400" dirty="0" err="1">
                <a:solidFill>
                  <a:srgbClr val="00B050"/>
                </a:solidFill>
              </a:rPr>
              <a:t>b.report_num</a:t>
            </a:r>
            <a:r>
              <a:rPr lang="en-US" sz="2400" dirty="0">
                <a:solidFill>
                  <a:srgbClr val="00B050"/>
                </a:solidFill>
              </a:rPr>
              <a:t> and </a:t>
            </a:r>
            <a:r>
              <a:rPr lang="en-US" sz="2400" dirty="0" err="1">
                <a:solidFill>
                  <a:srgbClr val="00B050"/>
                </a:solidFill>
              </a:rPr>
              <a:t>b.accident_date</a:t>
            </a:r>
            <a:r>
              <a:rPr lang="en-US" sz="2400" dirty="0">
                <a:solidFill>
                  <a:srgbClr val="00B050"/>
                </a:solidFill>
              </a:rPr>
              <a:t> like '%08';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67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FC15-AD32-67DF-C3F0-8E776FD8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a new accident to the database.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C4F06-5A7B-3789-2832-130FF9FBC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SQL&gt; </a:t>
            </a: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insert into accident values(16,’2008-03-08','Domlur');</a:t>
            </a:r>
            <a:endParaRPr lang="en-IN" sz="23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SQL&gt; </a:t>
            </a: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 * from accident;</a:t>
            </a:r>
            <a:endParaRPr lang="en-IN" sz="23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991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8FA8D-A78A-F8EF-9286-9952DE5C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E2A45-C35E-C898-A2A1-CC88F07D4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solidFill>
                  <a:srgbClr val="98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Noto Sans Symbols"/>
              </a:rPr>
              <a:t>Display Accident date and location </a:t>
            </a: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solidFill>
                  <a:srgbClr val="98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Noto Sans Symbols"/>
              </a:rPr>
              <a:t>Display driver id who did accident with damage amount greater than or equal to Rs.25000</a:t>
            </a:r>
            <a:endParaRPr lang="en-IN" sz="32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936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ADDITIONAL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r>
              <a:rPr lang="en-US" b="1" dirty="0"/>
              <a:t>LIST THE ENTIRE PARTICIPATED RELATION IN THE DESCENDING ORDER OF DAMAGE AMOUNT.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SQL&gt; SELECT * FROM PARTICIPATED ORDER BY DAMAGE_AMOUNTT DESC;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lvl="0" indent="0">
              <a:buNone/>
            </a:pPr>
            <a:r>
              <a:rPr lang="en-US" b="1" dirty="0"/>
              <a:t>FIND THE AVERAGE DAMAGE AMOUNT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SQL&gt; SELECT AVG(DAMAGE_AMOUNTT) FROM PARTICIPATED;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lvl="0" indent="0">
              <a:buNone/>
            </a:pPr>
            <a:r>
              <a:rPr lang="en-US" b="1" dirty="0"/>
              <a:t>DELETE THE TUPLE WHOSE DAMAGE AMOUNT IS BELOW THE AVERAGE DAMAGE AMOUNT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SQL&gt; DELETE FROM PARTICIPATED WHERE </a:t>
            </a:r>
          </a:p>
          <a:p>
            <a:pPr marL="0" indent="0">
              <a:buNone/>
            </a:pPr>
            <a:r>
              <a:rPr lang="en-US" dirty="0"/>
              <a:t>DAMAGE_AMOUNTT &lt;  (SELECT AVG (DAMAGE_AMOUNT) FROM PARTICIPATED);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lvl="0" indent="0">
              <a:buNone/>
            </a:pPr>
            <a:r>
              <a:rPr lang="en-US" b="1" dirty="0"/>
              <a:t>LIST THE NAME OF DRIVERS WHOSE DAMAGE IS GREATER THAN THE AVERAGE DAMAGE AMOUNT.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SQL&gt; SELECT NAME FROM PERSON A, PARTICIPATED B WHERE A.DRIVER_ID = B.DRIVER_ID AND DAMAGE_AMOUNT &gt; (SELECT AVG(DAMAGE_AMOUNT) FROM PARTICIPATED);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lvl="0" indent="0">
              <a:buNone/>
            </a:pPr>
            <a:r>
              <a:rPr lang="en-US" b="1" dirty="0"/>
              <a:t>FIND MAXIMUM DAMAGE AMOUNT.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SQL&gt;SELECT MAX(DAMAGE_AMOUNT) FROM PARTICIPATED;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12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1435</Words>
  <Application>Microsoft Office PowerPoint</Application>
  <PresentationFormat>On-screen Show (4:3)</PresentationFormat>
  <Paragraphs>296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Noto Sans Symbols</vt:lpstr>
      <vt:lpstr>Times New Roman</vt:lpstr>
      <vt:lpstr>Office Theme</vt:lpstr>
      <vt:lpstr>Week 1</vt:lpstr>
      <vt:lpstr>PowerPoint Presentation</vt:lpstr>
      <vt:lpstr>PowerPoint Presentation</vt:lpstr>
      <vt:lpstr>PowerPoint Presentation</vt:lpstr>
      <vt:lpstr>PowerPoint Presentation</vt:lpstr>
      <vt:lpstr> Insurance Database</vt:lpstr>
      <vt:lpstr>PowerPoint Presentation</vt:lpstr>
      <vt:lpstr>PowerPoint Presentation</vt:lpstr>
      <vt:lpstr>PowerPoint Presentation</vt:lpstr>
      <vt:lpstr>QUERY 2: Enter at least five tuples for each relation </vt:lpstr>
      <vt:lpstr>QUERY 2: Enter at least five tuples for each relation</vt:lpstr>
      <vt:lpstr>Update the damage amount to 25000 for the car with a specific reg-num (example 'KA053408' ) for which the accident report number was 12. </vt:lpstr>
      <vt:lpstr>Update the damage amount to 25000 for the car with a specific reg-num (example 'KA053408' ) for which the accident report number was 12. </vt:lpstr>
      <vt:lpstr>Find the total number of people who owned cars that were involved in accidents in 2008. </vt:lpstr>
      <vt:lpstr>Find the total number of people who owned cars that were involved in accidents in 2008. </vt:lpstr>
      <vt:lpstr>Add a new accident to the database. </vt:lpstr>
      <vt:lpstr>To Do</vt:lpstr>
      <vt:lpstr>ADDITIONAL QUERIES</vt:lpstr>
    </vt:vector>
  </TitlesOfParts>
  <Company>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System</dc:creator>
  <cp:lastModifiedBy>Uma Devi</cp:lastModifiedBy>
  <cp:revision>31</cp:revision>
  <dcterms:created xsi:type="dcterms:W3CDTF">2016-02-08T03:53:32Z</dcterms:created>
  <dcterms:modified xsi:type="dcterms:W3CDTF">2022-11-08T01:24:57Z</dcterms:modified>
</cp:coreProperties>
</file>